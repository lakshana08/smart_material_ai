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640080" cy="64008"/>
          </a:xfrm>
          <a:prstGeom prst="rect">
            <a:avLst/>
          </a:prstGeom>
          <a:solidFill>
            <a:srgbClr val="2E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56032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Calibri"/>
              </a:rPr>
              <a:t>Smart Material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42900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7FB2F5"/>
                </a:solidFill>
                <a:latin typeface="Calibri"/>
              </a:rPr>
              <a:t>Four A2A Agents for SAP S/4HANA Material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9776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B8C4D6"/>
                </a:solidFill>
                <a:latin typeface="Calibri"/>
              </a:rPr>
              <a:t>Built for Jabil Suzhou GP  —  Material Shortage, Inventory &amp; Aging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4709160"/>
            <a:ext cx="1024128" cy="384048"/>
          </a:xfrm>
          <a:prstGeom prst="roundRect">
            <a:avLst>
              <a:gd name="adj" fmla="val 50000"/>
            </a:avLst>
          </a:prstGeom>
          <a:solidFill>
            <a:srgbClr val="1E2E47"/>
          </a:solidFill>
          <a:ln w="12700">
            <a:solidFill>
              <a:srgbClr val="334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791456"/>
            <a:ext cx="10241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8ECF3"/>
                </a:solidFill>
                <a:latin typeface="Calibri"/>
              </a:rPr>
              <a:t>FastAPI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57400" y="4709160"/>
            <a:ext cx="2633472" cy="384048"/>
          </a:xfrm>
          <a:prstGeom prst="roundRect">
            <a:avLst>
              <a:gd name="adj" fmla="val 50000"/>
            </a:avLst>
          </a:prstGeom>
          <a:solidFill>
            <a:srgbClr val="1E2E47"/>
          </a:solidFill>
          <a:ln w="12700">
            <a:solidFill>
              <a:srgbClr val="334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57400" y="4791456"/>
            <a:ext cx="2633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8ECF3"/>
                </a:solidFill>
                <a:latin typeface="Calibri"/>
              </a:rPr>
              <a:t>SAP BTP · Cloud Foundry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55464" y="4709160"/>
            <a:ext cx="1527048" cy="384048"/>
          </a:xfrm>
          <a:prstGeom prst="roundRect">
            <a:avLst>
              <a:gd name="adj" fmla="val 50000"/>
            </a:avLst>
          </a:prstGeom>
          <a:solidFill>
            <a:srgbClr val="1E2E47"/>
          </a:solidFill>
          <a:ln w="12700">
            <a:solidFill>
              <a:srgbClr val="334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55464" y="4791456"/>
            <a:ext cx="1527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8ECF3"/>
                </a:solidFill>
                <a:latin typeface="Calibri"/>
              </a:rPr>
              <a:t>A2A Protocol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47104" y="4709160"/>
            <a:ext cx="2633472" cy="384048"/>
          </a:xfrm>
          <a:prstGeom prst="roundRect">
            <a:avLst>
              <a:gd name="adj" fmla="val 50000"/>
            </a:avLst>
          </a:prstGeom>
          <a:solidFill>
            <a:srgbClr val="1E2E47"/>
          </a:solidFill>
          <a:ln w="12700">
            <a:solidFill>
              <a:srgbClr val="334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4" y="4791456"/>
            <a:ext cx="2633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8ECF3"/>
                </a:solidFill>
                <a:latin typeface="Calibri"/>
              </a:rPr>
              <a:t>SAP AI Core / LangChain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45168" y="4709160"/>
            <a:ext cx="1929384" cy="384048"/>
          </a:xfrm>
          <a:prstGeom prst="roundRect">
            <a:avLst>
              <a:gd name="adj" fmla="val 50000"/>
            </a:avLst>
          </a:prstGeom>
          <a:solidFill>
            <a:srgbClr val="1E2E47"/>
          </a:solidFill>
          <a:ln w="12700">
            <a:solidFill>
              <a:srgbClr val="334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45168" y="4791456"/>
            <a:ext cx="19293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8ECF3"/>
                </a:solidFill>
                <a:latin typeface="Calibri"/>
              </a:rPr>
              <a:t>SAP Joule Studio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B7A93"/>
                </a:solidFill>
                <a:latin typeface="Calibri"/>
              </a:rPr>
              <a:t>Project Overview  •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320040" cy="54864"/>
          </a:xfrm>
          <a:prstGeom prst="rect">
            <a:avLst/>
          </a:prstGeom>
          <a:solidFill>
            <a:srgbClr val="2E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2120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B2F5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One app, four agents, a single guiding 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B8C4D6"/>
                </a:solidFill>
                <a:latin typeface="Calibri"/>
              </a:rPr>
              <a:t>The LLM only ever routes and narrates — it never computes.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3611880" cy="3931920"/>
          </a:xfrm>
          <a:prstGeom prst="roundRect">
            <a:avLst>
              <a:gd name="adj" fmla="val 6000"/>
            </a:avLst>
          </a:prstGeom>
          <a:solidFill>
            <a:srgbClr val="1E2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334766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3063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Structured or free 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37560"/>
            <a:ext cx="30632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B8C4D6"/>
                </a:solidFill>
                <a:latin typeface="Calibri"/>
              </a:rPr>
              <a:t>Every agent accepts pre-extracted JSON (Joule Studio skill calls) or plain English / Mandarin text — both paths reach the same deterministic business logic.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65960"/>
            <a:ext cx="3611880" cy="73152"/>
          </a:xfrm>
          <a:prstGeom prst="rect">
            <a:avLst/>
          </a:prstGeom>
          <a:solidFill>
            <a:srgbClr val="2E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1965960"/>
            <a:ext cx="3611880" cy="3931920"/>
          </a:xfrm>
          <a:prstGeom prst="roundRect">
            <a:avLst>
              <a:gd name="adj" fmla="val 6000"/>
            </a:avLst>
          </a:prstGeom>
          <a:solidFill>
            <a:srgbClr val="1E2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19456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334766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743200"/>
            <a:ext cx="3063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Exactly 2 LLM calls, max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337560"/>
            <a:ext cx="30632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B8C4D6"/>
                </a:solidFill>
                <a:latin typeface="Calibri"/>
              </a:rPr>
              <a:t>Free-text turns cost one call to route to a tool and one to narrate the result — regardless of how many tools run. Structured calls cost zero.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1965960"/>
            <a:ext cx="3611880" cy="73152"/>
          </a:xfrm>
          <a:prstGeom prst="rect">
            <a:avLst/>
          </a:prstGeom>
          <a:solidFill>
            <a:srgbClr val="21B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0" y="1965960"/>
            <a:ext cx="3611880" cy="3931920"/>
          </a:xfrm>
          <a:prstGeom prst="roundRect">
            <a:avLst>
              <a:gd name="adj" fmla="val 6000"/>
            </a:avLst>
          </a:prstGeom>
          <a:solidFill>
            <a:srgbClr val="1E2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219456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334766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743200"/>
            <a:ext cx="3063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Live SAP + offline rules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337560"/>
            <a:ext cx="30632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B8C4D6"/>
                </a:solidFill>
                <a:latin typeface="Calibri"/>
              </a:rPr>
              <a:t>Query / Action / Report agents talk to live S/4HANA over OData. The Status Agent evaluates 4 business rules against offline Excel exports — no live SAP dependency at all.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1965960"/>
            <a:ext cx="3611880" cy="73152"/>
          </a:xfrm>
          <a:prstGeom prst="rect">
            <a:avLst/>
          </a:prstGeom>
          <a:solidFill>
            <a:srgbClr val="E0A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7A93"/>
                </a:solidFill>
                <a:latin typeface="Calibri"/>
              </a:rPr>
              <a:t>Smart Material AI  •  Jabil Suzhou GP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A93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320040" cy="54864"/>
          </a:xfrm>
          <a:prstGeom prst="rect">
            <a:avLst/>
          </a:prstGeom>
          <a:solidFill>
            <a:srgbClr val="2E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2120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B2F5"/>
                </a:solidFill>
                <a:latin typeface="Calibri"/>
              </a:rPr>
              <a:t>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The Four A2A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B8C4D6"/>
                </a:solidFill>
                <a:latin typeface="Calibri"/>
              </a:rPr>
              <a:t>Each agent advertises its own AgentCard and accepts JSON-RPC 'SendMessage' requests independently.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11064240" cy="987552"/>
          </a:xfrm>
          <a:prstGeom prst="roundRect">
            <a:avLst>
              <a:gd name="adj" fmla="val 8000"/>
            </a:avLst>
          </a:prstGeom>
          <a:solidFill>
            <a:srgbClr val="1E2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82296" cy="987552"/>
          </a:xfrm>
          <a:prstGeom prst="rect">
            <a:avLst/>
          </a:prstGeom>
          <a:solidFill>
            <a:srgbClr val="2E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39696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Material Query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542032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FB2F5"/>
                </a:solidFill>
                <a:latin typeface="Consolas"/>
              </a:rPr>
              <a:t>/a2a/query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2139696"/>
            <a:ext cx="24688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B8C4D6"/>
                </a:solidFill>
                <a:latin typeface="Calibri"/>
              </a:rPr>
              <a:t>Live S/4HANA (OData)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39696"/>
            <a:ext cx="50292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E8ECF3"/>
                </a:solidFill>
                <a:latin typeface="Calibri"/>
              </a:rPr>
              <a:t>Material master (MM03), stock overview (MMBE), production orders (COOIS)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127248"/>
            <a:ext cx="11064240" cy="987552"/>
          </a:xfrm>
          <a:prstGeom prst="roundRect">
            <a:avLst>
              <a:gd name="adj" fmla="val 8000"/>
            </a:avLst>
          </a:prstGeom>
          <a:solidFill>
            <a:srgbClr val="1E2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127248"/>
            <a:ext cx="82296" cy="987552"/>
          </a:xfrm>
          <a:prstGeom prst="rect">
            <a:avLst/>
          </a:prstGeom>
          <a:solidFill>
            <a:srgbClr val="21B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255264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Material Action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65760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FB2F5"/>
                </a:solidFill>
                <a:latin typeface="Consolas"/>
              </a:rPr>
              <a:t>/a2a/action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3255264"/>
            <a:ext cx="24688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B8C4D6"/>
                </a:solidFill>
                <a:latin typeface="Calibri"/>
              </a:rPr>
              <a:t>Live S/4HANA (OData)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255264"/>
            <a:ext cx="50292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E8ECF3"/>
                </a:solidFill>
                <a:latin typeface="Calibri"/>
              </a:rPr>
              <a:t>Create / update / delete material master (MM01 / MM02)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242816"/>
            <a:ext cx="11064240" cy="987552"/>
          </a:xfrm>
          <a:prstGeom prst="roundRect">
            <a:avLst>
              <a:gd name="adj" fmla="val 8000"/>
            </a:avLst>
          </a:prstGeom>
          <a:solidFill>
            <a:srgbClr val="1E2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242816"/>
            <a:ext cx="82296" cy="987552"/>
          </a:xfrm>
          <a:prstGeom prst="rect">
            <a:avLst/>
          </a:prstGeom>
          <a:solidFill>
            <a:srgbClr val="E0A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37083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Material Report 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773168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FB2F5"/>
                </a:solidFill>
                <a:latin typeface="Consolas"/>
              </a:rPr>
              <a:t>/a2a/report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4370832"/>
            <a:ext cx="24688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B8C4D6"/>
                </a:solidFill>
                <a:latin typeface="Calibri"/>
              </a:rPr>
              <a:t>Live S/4HANA (OData)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370832"/>
            <a:ext cx="50292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E8ECF3"/>
                </a:solidFill>
                <a:latin typeface="Calibri"/>
              </a:rPr>
              <a:t>Downloadable reports — PDF / Excel / CSV via short-lived tokens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358384"/>
            <a:ext cx="11064240" cy="987552"/>
          </a:xfrm>
          <a:prstGeom prst="roundRect">
            <a:avLst>
              <a:gd name="adj" fmla="val 8000"/>
            </a:avLst>
          </a:prstGeom>
          <a:solidFill>
            <a:srgbClr val="1E2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5358384"/>
            <a:ext cx="82296" cy="987552"/>
          </a:xfrm>
          <a:prstGeom prst="rect">
            <a:avLst/>
          </a:prstGeom>
          <a:solidFill>
            <a:srgbClr val="C2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48640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Status 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888736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FB2F5"/>
                </a:solidFill>
                <a:latin typeface="Consolas"/>
              </a:rPr>
              <a:t>/a2a/status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94760" y="5486400"/>
            <a:ext cx="24688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B8C4D6"/>
                </a:solidFill>
                <a:latin typeface="Calibri"/>
              </a:rPr>
              <a:t>sample_data/*.xlsx (offline)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486400"/>
            <a:ext cx="50292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E8ECF3"/>
                </a:solidFill>
                <a:latin typeface="Calibri"/>
              </a:rPr>
              <a:t>The 4 business rules: Non-Controlled, Over-Control, Aging, Machine-Head 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7A93"/>
                </a:solidFill>
                <a:latin typeface="Calibri"/>
              </a:rPr>
              <a:t>Smart Material AI  •  Jabil Suzhou GP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A93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320040" cy="54864"/>
          </a:xfrm>
          <a:prstGeom prst="rect">
            <a:avLst/>
          </a:prstGeom>
          <a:solidFill>
            <a:srgbClr val="2E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2120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B2F5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Request Flow, End to 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B8C4D6"/>
                </a:solidFill>
                <a:latin typeface="Calibri"/>
              </a:rPr>
              <a:t>Two branches never cross: business rules never touch s4_client.py; the other three agents never touch app/engine/.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874519"/>
            <a:ext cx="3200400" cy="411480"/>
          </a:xfrm>
          <a:prstGeom prst="roundRect">
            <a:avLst>
              <a:gd name="adj" fmla="val 12000"/>
            </a:avLst>
          </a:prstGeom>
          <a:solidFill>
            <a:srgbClr val="0B1422"/>
          </a:solidFill>
          <a:ln w="12700">
            <a:solidFill>
              <a:srgbClr val="334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1874519"/>
            <a:ext cx="3054096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7FB2F5"/>
                </a:solidFill>
                <a:latin typeface="Calibri"/>
              </a:rPr>
              <a:t>A2A Client  (Joule Studio / Postman / curl)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80760" y="2286000"/>
            <a:ext cx="0" cy="201168"/>
          </a:xfrm>
          <a:prstGeom prst="bentConnector3">
            <a:avLst/>
          </a:prstGeom>
          <a:ln w="22225">
            <a:solidFill>
              <a:srgbClr val="556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291840" y="2514600"/>
            <a:ext cx="5577840" cy="384048"/>
          </a:xfrm>
          <a:prstGeom prst="roundRect">
            <a:avLst>
              <a:gd name="adj" fmla="val 12000"/>
            </a:avLst>
          </a:prstGeom>
          <a:solidFill>
            <a:srgbClr val="1E2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2514600"/>
            <a:ext cx="543153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app/main.py  —  mounts 4 A2A sub-apps + /health + reports router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80760" y="2898648"/>
            <a:ext cx="0" cy="201168"/>
          </a:xfrm>
          <a:prstGeom prst="bentConnector3">
            <a:avLst/>
          </a:prstGeom>
          <a:ln w="22225">
            <a:solidFill>
              <a:srgbClr val="556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920240" y="3127248"/>
            <a:ext cx="8321040" cy="384048"/>
          </a:xfrm>
          <a:prstGeom prst="roundRect">
            <a:avLst>
              <a:gd name="adj" fmla="val 12000"/>
            </a:avLst>
          </a:prstGeom>
          <a:solidFill>
            <a:srgbClr val="1E2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93392" y="3127248"/>
            <a:ext cx="817473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a2a_agents/{query,action,report,status}_agent.py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840480" y="3511296"/>
            <a:ext cx="0" cy="201168"/>
          </a:xfrm>
          <a:prstGeom prst="bentConnector3">
            <a:avLst/>
          </a:prstGeom>
          <a:ln w="22225">
            <a:solidFill>
              <a:srgbClr val="556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321040" y="3511296"/>
            <a:ext cx="0" cy="201168"/>
          </a:xfrm>
          <a:prstGeom prst="bentConnector3">
            <a:avLst/>
          </a:prstGeom>
          <a:ln w="22225">
            <a:solidFill>
              <a:srgbClr val="556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377440" y="3712463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1">
                <a:solidFill>
                  <a:srgbClr val="B8C4D6"/>
                </a:solidFill>
                <a:latin typeface="Calibri"/>
              </a:rPr>
              <a:t>structured JSON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712463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1">
                <a:solidFill>
                  <a:srgbClr val="B8C4D6"/>
                </a:solidFill>
                <a:latin typeface="Calibri"/>
              </a:rPr>
              <a:t>free text (EN / ZH)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950208"/>
            <a:ext cx="5029200" cy="502920"/>
          </a:xfrm>
          <a:prstGeom prst="roundRect">
            <a:avLst>
              <a:gd name="adj" fmla="val 12000"/>
            </a:avLst>
          </a:prstGeom>
          <a:solidFill>
            <a:srgbClr val="1E2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3950208"/>
            <a:ext cx="488289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core_capabilities/*.py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950208"/>
            <a:ext cx="5029200" cy="777240"/>
          </a:xfrm>
          <a:prstGeom prst="roundRect">
            <a:avLst>
              <a:gd name="adj" fmla="val 12000"/>
            </a:avLst>
          </a:prstGeom>
          <a:solidFill>
            <a:srgbClr val="2A1E3E"/>
          </a:solidFill>
          <a:ln w="12700">
            <a:solidFill>
              <a:srgbClr val="5A3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6792" y="3950208"/>
            <a:ext cx="4882896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7FB2F5"/>
                </a:solidFill>
                <a:latin typeface="Calibri"/>
              </a:rPr>
              <a:t>services/ai_core.py</a:t>
            </a:r>
          </a:p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7FB2F5"/>
                </a:solidFill>
                <a:latin typeface="Calibri"/>
              </a:rPr>
              <a:t>SAP AI Core + LangChain tool-calling agent</a:t>
            </a:r>
          </a:p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7FB2F5"/>
                </a:solidFill>
                <a:latin typeface="Calibri"/>
              </a:rPr>
              <a:t>(picks tool, narrates — never computes)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429000" y="4453128"/>
            <a:ext cx="0" cy="256032"/>
          </a:xfrm>
          <a:prstGeom prst="bentConnector3">
            <a:avLst/>
          </a:prstGeom>
          <a:ln w="22225">
            <a:solidFill>
              <a:srgbClr val="556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778240" y="4727448"/>
            <a:ext cx="0" cy="256032"/>
          </a:xfrm>
          <a:prstGeom prst="bentConnector3">
            <a:avLst/>
          </a:prstGeom>
          <a:ln w="22225">
            <a:solidFill>
              <a:srgbClr val="556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406640" y="4453128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1">
                <a:solidFill>
                  <a:srgbClr val="8A7AC0"/>
                </a:solidFill>
                <a:latin typeface="Calibri"/>
              </a:rPr>
              <a:t>same tools, either path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4709160"/>
            <a:ext cx="2331720" cy="457200"/>
          </a:xfrm>
          <a:prstGeom prst="roundRect">
            <a:avLst>
              <a:gd name="adj" fmla="val 12000"/>
            </a:avLst>
          </a:prstGeom>
          <a:solidFill>
            <a:srgbClr val="1E2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4709160"/>
            <a:ext cx="218541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E8ECF3"/>
                </a:solidFill>
                <a:latin typeface="Calibri"/>
              </a:rPr>
              <a:t>query.py / action.py</a:t>
            </a:r>
          </a:p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E8ECF3"/>
                </a:solidFill>
                <a:latin typeface="Calibri"/>
              </a:rPr>
              <a:t>/ report.py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29000" y="4709160"/>
            <a:ext cx="2514600" cy="457200"/>
          </a:xfrm>
          <a:prstGeom prst="roundRect">
            <a:avLst>
              <a:gd name="adj" fmla="val 12000"/>
            </a:avLst>
          </a:prstGeom>
          <a:solidFill>
            <a:srgbClr val="1E2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02152" y="4709160"/>
            <a:ext cx="236829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E8ECF3"/>
                </a:solidFill>
                <a:latin typeface="Calibri"/>
              </a:rPr>
              <a:t>material_status.py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075688" y="5166360"/>
            <a:ext cx="0" cy="228600"/>
          </a:xfrm>
          <a:prstGeom prst="bentConnector3">
            <a:avLst/>
          </a:prstGeom>
          <a:ln w="22225">
            <a:solidFill>
              <a:srgbClr val="556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663440" y="5166360"/>
            <a:ext cx="0" cy="228600"/>
          </a:xfrm>
          <a:prstGeom prst="bentConnector3">
            <a:avLst/>
          </a:prstGeom>
          <a:ln w="22225">
            <a:solidFill>
              <a:srgbClr val="556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14400" y="5394960"/>
            <a:ext cx="2331720" cy="502920"/>
          </a:xfrm>
          <a:prstGeom prst="roundRect">
            <a:avLst>
              <a:gd name="adj" fmla="val 12000"/>
            </a:avLst>
          </a:prstGeom>
          <a:solidFill>
            <a:srgbClr val="142740"/>
          </a:solidFill>
          <a:ln w="12700">
            <a:solidFill>
              <a:srgbClr val="2E6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7552" y="5394960"/>
            <a:ext cx="218541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7FB2F5"/>
                </a:solidFill>
                <a:latin typeface="Calibri"/>
              </a:rPr>
              <a:t>services/s4_client.py</a:t>
            </a:r>
          </a:p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7FB2F5"/>
                </a:solidFill>
                <a:latin typeface="Calibri"/>
              </a:rPr>
              <a:t>→ destination.py → OData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29000" y="5394960"/>
            <a:ext cx="2514600" cy="502920"/>
          </a:xfrm>
          <a:prstGeom prst="roundRect">
            <a:avLst>
              <a:gd name="adj" fmla="val 12000"/>
            </a:avLst>
          </a:prstGeom>
          <a:solidFill>
            <a:srgbClr val="143028"/>
          </a:solidFill>
          <a:ln w="12700">
            <a:solidFill>
              <a:srgbClr val="21B3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02152" y="5394960"/>
            <a:ext cx="236829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21B38A"/>
                </a:solidFill>
                <a:latin typeface="Calibri"/>
              </a:rPr>
              <a:t>app/engine/*.py</a:t>
            </a:r>
          </a:p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21B38A"/>
                </a:solidFill>
                <a:latin typeface="Calibri"/>
              </a:rPr>
              <a:t>pure Python, zero LLM, zero network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6053328"/>
            <a:ext cx="2331720" cy="384048"/>
          </a:xfrm>
          <a:prstGeom prst="roundRect">
            <a:avLst>
              <a:gd name="adj" fmla="val 12000"/>
            </a:avLst>
          </a:prstGeom>
          <a:solidFill>
            <a:srgbClr val="0B1422"/>
          </a:solidFill>
          <a:ln w="12700">
            <a:solidFill>
              <a:srgbClr val="334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" y="6053328"/>
            <a:ext cx="218541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B8C4D6"/>
                </a:solidFill>
                <a:latin typeface="Calibri"/>
              </a:rPr>
              <a:t>S/4HANA OData services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429000" y="6053328"/>
            <a:ext cx="2514600" cy="384048"/>
          </a:xfrm>
          <a:prstGeom prst="roundRect">
            <a:avLst>
              <a:gd name="adj" fmla="val 12000"/>
            </a:avLst>
          </a:prstGeom>
          <a:solidFill>
            <a:srgbClr val="0B1422"/>
          </a:solidFill>
          <a:ln w="12700">
            <a:solidFill>
              <a:srgbClr val="334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02152" y="6053328"/>
            <a:ext cx="236829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B8C4D6"/>
                </a:solidFill>
                <a:latin typeface="Calibri"/>
              </a:rPr>
              <a:t>sample_data/*.xlsx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63640" y="4892040"/>
            <a:ext cx="5029200" cy="1554480"/>
          </a:xfrm>
          <a:prstGeom prst="roundRect">
            <a:avLst>
              <a:gd name="adj" fmla="val 10000"/>
            </a:avLst>
          </a:prstGeom>
          <a:solidFill>
            <a:srgbClr val="0B1422"/>
          </a:solidFill>
          <a:ln w="12700">
            <a:solidFill>
              <a:srgbClr val="334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92240" y="502920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B8C4D6"/>
                </a:solidFill>
                <a:latin typeface="Calibri"/>
              </a:rPr>
              <a:t>Report generation additionally routes through services/report_builder.py — renders the file in memory, stores it under a short-lived token, and serves it via GET /reports/download/{token}. A2A responses carry text/data parts only, never binary attachments.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7A93"/>
                </a:solidFill>
                <a:latin typeface="Calibri"/>
              </a:rPr>
              <a:t>Smart Material AI  •  Jabil Suzhou GP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6424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A93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320040" cy="54864"/>
          </a:xfrm>
          <a:prstGeom prst="rect">
            <a:avLst/>
          </a:prstGeom>
          <a:solidFill>
            <a:srgbClr val="2E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2120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B2F5"/>
                </a:solidFill>
                <a:latin typeface="Calibri"/>
              </a:rPr>
              <a:t>DESIGN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Dual Input Path — Every Agent, Both 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B8C4D6"/>
                </a:solidFill>
                <a:latin typeface="Calibri"/>
              </a:rPr>
              <a:t>The core design principle of the whole app.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57400"/>
            <a:ext cx="5349240" cy="3931920"/>
          </a:xfrm>
          <a:prstGeom prst="roundRect">
            <a:avLst>
              <a:gd name="adj" fmla="val 6000"/>
            </a:avLst>
          </a:prstGeom>
          <a:solidFill>
            <a:srgbClr val="1E2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57400"/>
            <a:ext cx="5349240" cy="73152"/>
          </a:xfrm>
          <a:prstGeom prst="rect">
            <a:avLst/>
          </a:prstGeom>
          <a:solidFill>
            <a:srgbClr val="2E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Structured 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71800"/>
            <a:ext cx="46177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7FB2F5"/>
                </a:solidFill>
                <a:latin typeface="Calibri"/>
              </a:rPr>
              <a:t>▸  Source</a:t>
            </a:r>
            <a:r>
              <a:rPr sz="1450">
                <a:solidFill>
                  <a:srgbClr val="E8ECF3"/>
                </a:solidFill>
                <a:latin typeface="Calibri"/>
              </a:rPr>
              <a:t>  Joule Studio skill invocation with pre-extracted fields, or any machine caller.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7FB2F5"/>
                </a:solidFill>
                <a:latin typeface="Calibri"/>
              </a:rPr>
              <a:t>▸  Dispatch</a:t>
            </a:r>
            <a:r>
              <a:rPr sz="1450">
                <a:solidFill>
                  <a:srgbClr val="E8ECF3"/>
                </a:solidFill>
                <a:latin typeface="Calibri"/>
              </a:rPr>
              <a:t>  Sent directly to the relevant business-logic function.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7FB2F5"/>
                </a:solidFill>
                <a:latin typeface="Calibri"/>
              </a:rPr>
              <a:t>▸  LLM calls</a:t>
            </a:r>
            <a:r>
              <a:rPr sz="1450">
                <a:solidFill>
                  <a:srgbClr val="E8ECF3"/>
                </a:solidFill>
                <a:latin typeface="Calibri"/>
              </a:rPr>
              <a:t>  Zero. No model is invoked on this path.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057400"/>
            <a:ext cx="5349240" cy="3931920"/>
          </a:xfrm>
          <a:prstGeom prst="roundRect">
            <a:avLst>
              <a:gd name="adj" fmla="val 6000"/>
            </a:avLst>
          </a:prstGeom>
          <a:solidFill>
            <a:srgbClr val="1E2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2057400"/>
            <a:ext cx="5349240" cy="73152"/>
          </a:xfrm>
          <a:prstGeom prst="rect">
            <a:avLst/>
          </a:prstGeom>
          <a:solidFill>
            <a:srgbClr val="E0A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2377440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Plain Free 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971800"/>
            <a:ext cx="46177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7FB2F5"/>
                </a:solidFill>
                <a:latin typeface="Calibri"/>
              </a:rPr>
              <a:t>▸  Source</a:t>
            </a:r>
            <a:r>
              <a:rPr sz="1450">
                <a:solidFill>
                  <a:srgbClr val="E8ECF3"/>
                </a:solidFill>
                <a:latin typeface="Calibri"/>
              </a:rPr>
              <a:t>  English or Mandarin, routed through a LangChain tool-calling agent backed by SAP AI Core.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7FB2F5"/>
                </a:solidFill>
                <a:latin typeface="Calibri"/>
              </a:rPr>
              <a:t>▸  Dispatch</a:t>
            </a:r>
            <a:r>
              <a:rPr sz="1450">
                <a:solidFill>
                  <a:srgbClr val="E8ECF3"/>
                </a:solidFill>
                <a:latin typeface="Calibri"/>
              </a:rPr>
              <a:t>  Model selects the tool(s) and extracts parameters; the tool runs as plain Python and returns a computed result; the model narrates it into a sentence.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7FB2F5"/>
                </a:solidFill>
                <a:latin typeface="Calibri"/>
              </a:rPr>
              <a:t>▸  LLM calls</a:t>
            </a:r>
            <a:r>
              <a:rPr sz="1450">
                <a:solidFill>
                  <a:srgbClr val="E8ECF3"/>
                </a:solidFill>
                <a:latin typeface="Calibri"/>
              </a:rPr>
              <a:t>  Exactly two per turn — one to route, one to narrate — regardless of how many tools are used.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6172200"/>
            <a:ext cx="11064240" cy="502920"/>
          </a:xfrm>
          <a:prstGeom prst="roundRect">
            <a:avLst>
              <a:gd name="adj" fmla="val 15000"/>
            </a:avLst>
          </a:prstGeom>
          <a:solidFill>
            <a:srgbClr val="142740"/>
          </a:solidFill>
          <a:ln w="12700">
            <a:solidFill>
              <a:srgbClr val="2E6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6172200"/>
            <a:ext cx="10515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7FB2F5"/>
                </a:solidFill>
                <a:latin typeface="Calibri"/>
              </a:rPr>
              <a:t>AI_CORE_ENABLED (.env) gates the free-text path only — every agent still fully works via structured JSON when it's set to false.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7A93"/>
                </a:solidFill>
                <a:latin typeface="Calibri"/>
              </a:rPr>
              <a:t>Smart Material AI  •  Jabil Suzhou GP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A93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320040" cy="54864"/>
          </a:xfrm>
          <a:prstGeom prst="rect">
            <a:avLst/>
          </a:prstGeom>
          <a:solidFill>
            <a:srgbClr val="2E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2120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B2F5"/>
                </a:solidFill>
                <a:latin typeface="Calibri"/>
              </a:rPr>
              <a:t>STATUS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The 4 Business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B8C4D6"/>
                </a:solidFill>
                <a:latin typeface="Calibri"/>
              </a:rPr>
              <a:t>Pure Python, no LLM, no pandas — plain openpyxl + dict/list processing. Verified against sample_data/.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5394960" cy="1874519"/>
          </a:xfrm>
          <a:prstGeom prst="roundRect">
            <a:avLst>
              <a:gd name="adj" fmla="val 8000"/>
            </a:avLst>
          </a:prstGeom>
          <a:solidFill>
            <a:srgbClr val="1E2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82296" cy="1874519"/>
          </a:xfrm>
          <a:prstGeom prst="rect">
            <a:avLst/>
          </a:prstGeom>
          <a:solidFill>
            <a:srgbClr val="2E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FFFFFF"/>
                </a:solidFill>
                <a:latin typeface="Calibri"/>
              </a:rPr>
              <a:t>Non-Controlled Material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130552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B8C4D6"/>
                </a:solidFill>
                <a:latin typeface="Calibri"/>
              </a:rPr>
              <a:t>无管制料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60320"/>
            <a:ext cx="4754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E8ECF3"/>
                </a:solidFill>
                <a:latin typeface="Calibri"/>
              </a:rPr>
              <a:t>Material + StorageLocation has no matching production-order requirement in the 14C component 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337559"/>
            <a:ext cx="2377440" cy="365760"/>
          </a:xfrm>
          <a:prstGeom prst="roundRect">
            <a:avLst>
              <a:gd name="adj" fmla="val 40000"/>
            </a:avLst>
          </a:prstGeom>
          <a:solidFill>
            <a:srgbClr val="0B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383279"/>
            <a:ext cx="2377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2E6FE0"/>
                </a:solidFill>
                <a:latin typeface="Calibri"/>
              </a:rPr>
              <a:t>1,678 records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965960"/>
            <a:ext cx="5394960" cy="1874519"/>
          </a:xfrm>
          <a:prstGeom prst="roundRect">
            <a:avLst>
              <a:gd name="adj" fmla="val 8000"/>
            </a:avLst>
          </a:prstGeom>
          <a:solidFill>
            <a:srgbClr val="1E2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965960"/>
            <a:ext cx="82296" cy="1874519"/>
          </a:xfrm>
          <a:prstGeom prst="rect">
            <a:avLst/>
          </a:prstGeom>
          <a:solidFill>
            <a:srgbClr val="21B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130552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FFFFFF"/>
                </a:solidFill>
                <a:latin typeface="Calibri"/>
              </a:rPr>
              <a:t>Over-Control / Over-Issued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0" y="2130552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B8C4D6"/>
                </a:solidFill>
                <a:latin typeface="Calibri"/>
              </a:rPr>
              <a:t>领超管制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560320"/>
            <a:ext cx="4754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E8ECF3"/>
                </a:solidFill>
                <a:latin typeface="Calibri"/>
              </a:rPr>
              <a:t>Unrestricted Stock − Controlled Remaining Issuance &lt; 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3337559"/>
            <a:ext cx="2377440" cy="365760"/>
          </a:xfrm>
          <a:prstGeom prst="roundRect">
            <a:avLst>
              <a:gd name="adj" fmla="val 40000"/>
            </a:avLst>
          </a:prstGeom>
          <a:solidFill>
            <a:srgbClr val="0B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383279"/>
            <a:ext cx="2377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21B38A"/>
                </a:solidFill>
                <a:latin typeface="Calibri"/>
              </a:rPr>
              <a:t>68 records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023360"/>
            <a:ext cx="5394960" cy="1874519"/>
          </a:xfrm>
          <a:prstGeom prst="roundRect">
            <a:avLst>
              <a:gd name="adj" fmla="val 8000"/>
            </a:avLst>
          </a:prstGeom>
          <a:solidFill>
            <a:srgbClr val="1E2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023360"/>
            <a:ext cx="82296" cy="1874519"/>
          </a:xfrm>
          <a:prstGeom prst="rect">
            <a:avLst/>
          </a:prstGeom>
          <a:solidFill>
            <a:srgbClr val="E0A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187952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FFFFFF"/>
                </a:solidFill>
                <a:latin typeface="Calibri"/>
              </a:rPr>
              <a:t>Aging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187952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B8C4D6"/>
                </a:solidFill>
                <a:latin typeface="Calibri"/>
              </a:rP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617720"/>
            <a:ext cx="4754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E8ECF3"/>
                </a:solidFill>
                <a:latin typeface="Calibri"/>
              </a:rPr>
              <a:t>Aging Days &gt; 14 (fixed threshold).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" y="5394959"/>
            <a:ext cx="2377440" cy="365760"/>
          </a:xfrm>
          <a:prstGeom prst="roundRect">
            <a:avLst>
              <a:gd name="adj" fmla="val 40000"/>
            </a:avLst>
          </a:prstGeom>
          <a:solidFill>
            <a:srgbClr val="0B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440679"/>
            <a:ext cx="2377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E0A42E"/>
                </a:solidFill>
                <a:latin typeface="Calibri"/>
              </a:rPr>
              <a:t>499 of 2,644 records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4023360"/>
            <a:ext cx="5394960" cy="1874519"/>
          </a:xfrm>
          <a:prstGeom prst="roundRect">
            <a:avLst>
              <a:gd name="adj" fmla="val 8000"/>
            </a:avLst>
          </a:prstGeom>
          <a:solidFill>
            <a:srgbClr val="1E2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72200" y="4023360"/>
            <a:ext cx="82296" cy="1874519"/>
          </a:xfrm>
          <a:prstGeom prst="rect">
            <a:avLst/>
          </a:prstGeom>
          <a:solidFill>
            <a:srgbClr val="C2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87952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FFFFFF"/>
                </a:solidFill>
                <a:latin typeface="Calibri"/>
              </a:rPr>
              <a:t>Machine-Head Material 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87000" y="4187952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B8C4D6"/>
                </a:solidFill>
                <a:latin typeface="Calibri"/>
              </a:rPr>
              <a:t>机头料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617720"/>
            <a:ext cx="4754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E8ECF3"/>
                </a:solidFill>
                <a:latin typeface="Calibri"/>
              </a:rPr>
              <a:t>order_type = ZNPC + prior GI issuance history. Candidates for human review only — never a resolved status.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92240" y="5394959"/>
            <a:ext cx="2377440" cy="365760"/>
          </a:xfrm>
          <a:prstGeom prst="roundRect">
            <a:avLst>
              <a:gd name="adj" fmla="val 40000"/>
            </a:avLst>
          </a:prstGeom>
          <a:solidFill>
            <a:srgbClr val="0B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5440679"/>
            <a:ext cx="2377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C25BE0"/>
                </a:solidFill>
                <a:latin typeface="Calibri"/>
              </a:rPr>
              <a:t>0 on this sample set*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08076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1">
                <a:solidFill>
                  <a:srgbClr val="B8C4D6"/>
                </a:solidFill>
                <a:latin typeface="Calibri"/>
              </a:rPr>
              <a:t>* Order numbers in RAW_PP134_OrderMaster.xlsx and RAW_14C_ComponentIssuance.xlsx have zero overlap in the current sample set — a data-quality property of the sample, not a rule bug.  Also excluded: orders flagged NMVT in COOIS (before any rule runs).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7A93"/>
                </a:solidFill>
                <a:latin typeface="Calibri"/>
              </a:rPr>
              <a:t>Smart Material AI  •  Jabil Suzhou GP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A93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320040" cy="54864"/>
          </a:xfrm>
          <a:prstGeom prst="rect">
            <a:avLst/>
          </a:prstGeom>
          <a:solidFill>
            <a:srgbClr val="2E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2120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B2F5"/>
                </a:solidFill>
                <a:latin typeface="Calibri"/>
              </a:rPr>
              <a:t>CODEBASE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Project Structure at a Glance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11064240" cy="960120"/>
          </a:xfrm>
          <a:prstGeom prst="roundRect">
            <a:avLst>
              <a:gd name="adj" fmla="val 8000"/>
            </a:avLst>
          </a:prstGeom>
          <a:solidFill>
            <a:srgbClr val="1E2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82296" cy="960120"/>
          </a:xfrm>
          <a:prstGeom prst="rect">
            <a:avLst/>
          </a:prstGeom>
          <a:solidFill>
            <a:srgbClr val="2E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93976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7FB2F5"/>
                </a:solidFill>
                <a:latin typeface="Consolas"/>
              </a:rPr>
              <a:t>app/a2a_agents/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2075688"/>
            <a:ext cx="74066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E8ECF3"/>
                </a:solidFill>
                <a:latin typeface="Calibri"/>
              </a:rPr>
              <a:t>One AgentExecutor per A2A agent. common.py holds the shared AgentCard builder, structured-input detection, and response-message helper.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63240"/>
            <a:ext cx="11064240" cy="960120"/>
          </a:xfrm>
          <a:prstGeom prst="roundRect">
            <a:avLst>
              <a:gd name="adj" fmla="val 8000"/>
            </a:avLst>
          </a:prstGeom>
          <a:solidFill>
            <a:srgbClr val="1E2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063240"/>
            <a:ext cx="82296" cy="960120"/>
          </a:xfrm>
          <a:prstGeom prst="rect">
            <a:avLst/>
          </a:prstGeom>
          <a:solidFill>
            <a:srgbClr val="21B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191256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7FB2F5"/>
                </a:solidFill>
                <a:latin typeface="Consolas"/>
              </a:rPr>
              <a:t>app/core_capabilities/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3172968"/>
            <a:ext cx="74066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E8ECF3"/>
                </a:solidFill>
                <a:latin typeface="Calibri"/>
              </a:rPr>
              <a:t>Business logic layer — what each agent can actually do, independent of A2A / LLM plumbing. Includes the S/4 OData service registry.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160520"/>
            <a:ext cx="11064240" cy="960120"/>
          </a:xfrm>
          <a:prstGeom prst="roundRect">
            <a:avLst>
              <a:gd name="adj" fmla="val 8000"/>
            </a:avLst>
          </a:prstGeom>
          <a:solidFill>
            <a:srgbClr val="1E2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160520"/>
            <a:ext cx="82296" cy="960120"/>
          </a:xfrm>
          <a:prstGeom prst="rect">
            <a:avLst/>
          </a:prstGeom>
          <a:solidFill>
            <a:srgbClr val="E0A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288536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7FB2F5"/>
                </a:solidFill>
                <a:latin typeface="Consolas"/>
              </a:rPr>
              <a:t>app/engine/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4270248"/>
            <a:ext cx="74066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E8ECF3"/>
                </a:solidFill>
                <a:latin typeface="Calibri"/>
              </a:rPr>
              <a:t>Deterministic rules for the Status Agent: loader, order_status (NMVT filter), material_status, aging, machine_head. Zero LLM, zero network.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257800"/>
            <a:ext cx="11064240" cy="960120"/>
          </a:xfrm>
          <a:prstGeom prst="roundRect">
            <a:avLst>
              <a:gd name="adj" fmla="val 8000"/>
            </a:avLst>
          </a:prstGeom>
          <a:solidFill>
            <a:srgbClr val="1E2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5257800"/>
            <a:ext cx="82296" cy="960120"/>
          </a:xfrm>
          <a:prstGeom prst="rect">
            <a:avLst/>
          </a:prstGeom>
          <a:solidFill>
            <a:srgbClr val="C2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385816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7FB2F5"/>
                </a:solidFill>
                <a:latin typeface="Consolas"/>
              </a:rPr>
              <a:t>app/services/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5367528"/>
            <a:ext cx="74066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E8ECF3"/>
                </a:solidFill>
                <a:latin typeface="Calibri"/>
              </a:rPr>
              <a:t>Infrastructure: s4_client (OData HTTP), destination (BTP Destination/Connectivity), ai_core (the only place any agent calls an LLM), report_builder.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B8C4D6"/>
                </a:solidFill>
                <a:latin typeface="Calibri"/>
              </a:rPr>
              <a:t>Plus: app/core/config.py (pydantic-settings) · app/routers/reports.py · sample_data/*.xlsx · Spec/ · manifest.yml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7A93"/>
                </a:solidFill>
                <a:latin typeface="Calibri"/>
              </a:rPr>
              <a:t>Smart Material AI  •  Jabil Suzhou GP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A93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320040" cy="54864"/>
          </a:xfrm>
          <a:prstGeom prst="rect">
            <a:avLst/>
          </a:prstGeom>
          <a:solidFill>
            <a:srgbClr val="2E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2120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B2F5"/>
                </a:solidFill>
                <a:latin typeface="Calibri"/>
              </a:rPr>
              <a:t>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Sample Data Sources (Status Agent)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B8C4D6"/>
                </a:solidFill>
                <a:latin typeface="Calibri"/>
              </a:rPr>
              <a:t>Four raw SAP report exports read directly via openpyxl — no live SAP connection required.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11064240" cy="868680"/>
          </a:xfrm>
          <a:prstGeom prst="roundRect">
            <a:avLst>
              <a:gd name="adj" fmla="val 8000"/>
            </a:avLst>
          </a:prstGeom>
          <a:solidFill>
            <a:srgbClr val="1E2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2322576"/>
            <a:ext cx="1005840" cy="438912"/>
          </a:xfrm>
          <a:prstGeom prst="roundRect">
            <a:avLst>
              <a:gd name="adj" fmla="val 25000"/>
            </a:avLst>
          </a:prstGeom>
          <a:solidFill>
            <a:srgbClr val="0B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322576"/>
            <a:ext cx="100584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7FB2F5"/>
                </a:solidFill>
                <a:latin typeface="Calibri"/>
              </a:rPr>
              <a:t>PP-134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221992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onsolas"/>
              </a:rPr>
              <a:t>RAW_PP134_OrderMaster.xlsx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560320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B8C4D6"/>
                </a:solidFill>
                <a:latin typeface="Calibri"/>
              </a:rPr>
              <a:t>Work order master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127248"/>
            <a:ext cx="11064240" cy="868680"/>
          </a:xfrm>
          <a:prstGeom prst="roundRect">
            <a:avLst>
              <a:gd name="adj" fmla="val 8000"/>
            </a:avLst>
          </a:prstGeom>
          <a:solidFill>
            <a:srgbClr val="1E2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" y="3346704"/>
            <a:ext cx="1005840" cy="438912"/>
          </a:xfrm>
          <a:prstGeom prst="roundRect">
            <a:avLst>
              <a:gd name="adj" fmla="val 25000"/>
            </a:avLst>
          </a:prstGeom>
          <a:solidFill>
            <a:srgbClr val="0B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346704"/>
            <a:ext cx="100584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7FB2F5"/>
                </a:solidFill>
                <a:latin typeface="Calibri"/>
              </a:rPr>
              <a:t>14C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3246120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onsolas"/>
              </a:rPr>
              <a:t>RAW_14C_ComponentIssuance.xlsx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3584448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B8C4D6"/>
                </a:solidFill>
                <a:latin typeface="Calibri"/>
              </a:rPr>
              <a:t>Component issuance — theoretical vs. actual usage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51376"/>
            <a:ext cx="11064240" cy="868680"/>
          </a:xfrm>
          <a:prstGeom prst="roundRect">
            <a:avLst>
              <a:gd name="adj" fmla="val 8000"/>
            </a:avLst>
          </a:prstGeom>
          <a:solidFill>
            <a:srgbClr val="1E2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5800" y="4370832"/>
            <a:ext cx="1005840" cy="438912"/>
          </a:xfrm>
          <a:prstGeom prst="roundRect">
            <a:avLst>
              <a:gd name="adj" fmla="val 25000"/>
            </a:avLst>
          </a:prstGeom>
          <a:solidFill>
            <a:srgbClr val="0B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370832"/>
            <a:ext cx="100584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7FB2F5"/>
                </a:solidFill>
                <a:latin typeface="Calibri"/>
              </a:rPr>
              <a:t>COOIS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4270248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onsolas"/>
              </a:rPr>
              <a:t>RAW_COOIS_OrderStatus.xlsx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4608576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B8C4D6"/>
                </a:solidFill>
                <a:latin typeface="Calibri"/>
              </a:rPr>
              <a:t>Order status flags, used for NMVT exclusion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75504"/>
            <a:ext cx="11064240" cy="868680"/>
          </a:xfrm>
          <a:prstGeom prst="roundRect">
            <a:avLst>
              <a:gd name="adj" fmla="val 8000"/>
            </a:avLst>
          </a:prstGeom>
          <a:solidFill>
            <a:srgbClr val="1E2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85800" y="5394960"/>
            <a:ext cx="1005840" cy="438912"/>
          </a:xfrm>
          <a:prstGeom prst="roundRect">
            <a:avLst>
              <a:gd name="adj" fmla="val 25000"/>
            </a:avLst>
          </a:prstGeom>
          <a:solidFill>
            <a:srgbClr val="0B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394960"/>
            <a:ext cx="100584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7FB2F5"/>
                </a:solidFill>
                <a:latin typeface="Calibri"/>
              </a:rPr>
              <a:t>Z_AGEDINV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5294376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onsolas"/>
              </a:rPr>
              <a:t>RAW_ZAGEDINV_Inventory.xlsx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65960" y="5632704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B8C4D6"/>
                </a:solidFill>
                <a:latin typeface="Calibri"/>
              </a:rPr>
              <a:t>Stock and aging by material / storage location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7A93"/>
                </a:solidFill>
                <a:latin typeface="Calibri"/>
              </a:rPr>
              <a:t>Smart Material AI  •  Jabil Suzhou GP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A93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320040" cy="54864"/>
          </a:xfrm>
          <a:prstGeom prst="rect">
            <a:avLst/>
          </a:prstGeom>
          <a:solidFill>
            <a:srgbClr val="2E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2120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B2F5"/>
                </a:solidFill>
                <a:latin typeface="Calibri"/>
              </a:rPr>
              <a:t>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Technology Stack &amp; Deployment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394960" cy="4114800"/>
          </a:xfrm>
          <a:prstGeom prst="roundRect">
            <a:avLst>
              <a:gd name="adj" fmla="val 6000"/>
            </a:avLst>
          </a:prstGeom>
          <a:solidFill>
            <a:srgbClr val="1E2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E6FE0"/>
                </a:solidFill>
                <a:latin typeface="Calibri"/>
              </a:rPr>
              <a:t>Application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43200"/>
            <a:ext cx="47548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350" b="1">
                <a:solidFill>
                  <a:srgbClr val="7FB2F5"/>
                </a:solidFill>
                <a:latin typeface="Calibri"/>
              </a:rPr>
              <a:t>▸  Framework</a:t>
            </a:r>
            <a:r>
              <a:rPr sz="1350">
                <a:solidFill>
                  <a:srgbClr val="E8ECF3"/>
                </a:solidFill>
                <a:latin typeface="Calibri"/>
              </a:rPr>
              <a:t>  FastAPI, mounting 4 independent A2A sub-apps from app/main.py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350" b="1">
                <a:solidFill>
                  <a:srgbClr val="7FB2F5"/>
                </a:solidFill>
                <a:latin typeface="Calibri"/>
              </a:rPr>
              <a:t>▸  Protocol</a:t>
            </a:r>
            <a:r>
              <a:rPr sz="1350">
                <a:solidFill>
                  <a:srgbClr val="E8ECF3"/>
                </a:solidFill>
                <a:latin typeface="Calibri"/>
              </a:rPr>
              <a:t>  A2A (Agent-to-Agent) — JSON-RPC 2.0, method SendMessage, header a2a-version: 1.0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350" b="1">
                <a:solidFill>
                  <a:srgbClr val="7FB2F5"/>
                </a:solidFill>
                <a:latin typeface="Calibri"/>
              </a:rPr>
              <a:t>▸  AI layer</a:t>
            </a:r>
            <a:r>
              <a:rPr sz="1350">
                <a:solidFill>
                  <a:srgbClr val="E8ECF3"/>
                </a:solidFill>
                <a:latin typeface="Calibri"/>
              </a:rPr>
              <a:t>  SAP AI Core + LangChain tool-calling agent (services/ai_core.py) — the only place any agent calls an LLM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350" b="1">
                <a:solidFill>
                  <a:srgbClr val="7FB2F5"/>
                </a:solidFill>
                <a:latin typeface="Calibri"/>
              </a:rPr>
              <a:t>▸  Consumers</a:t>
            </a:r>
            <a:r>
              <a:rPr sz="1350">
                <a:solidFill>
                  <a:srgbClr val="E8ECF3"/>
                </a:solidFill>
                <a:latin typeface="Calibri"/>
              </a:rPr>
              <a:t>  SAP Joule Studio skills, or any A2A-compatible / plain JSON-RPC client (Postman, curl)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011680"/>
            <a:ext cx="5394960" cy="4114800"/>
          </a:xfrm>
          <a:prstGeom prst="roundRect">
            <a:avLst>
              <a:gd name="adj" fmla="val 6000"/>
            </a:avLst>
          </a:prstGeom>
          <a:solidFill>
            <a:srgbClr val="1E2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2402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1B38A"/>
                </a:solidFill>
                <a:latin typeface="Calibri"/>
              </a:rPr>
              <a:t>Platform &amp; 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743200"/>
            <a:ext cx="47548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350" b="1">
                <a:solidFill>
                  <a:srgbClr val="7FB2F5"/>
                </a:solidFill>
                <a:latin typeface="Calibri"/>
              </a:rPr>
              <a:t>▸  Hosting</a:t>
            </a:r>
            <a:r>
              <a:rPr sz="1350">
                <a:solidFill>
                  <a:srgbClr val="E8ECF3"/>
                </a:solidFill>
                <a:latin typeface="Calibri"/>
              </a:rPr>
              <a:t>  SAP BTP Cloud Foundry, deployed via manifest.yml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350" b="1">
                <a:solidFill>
                  <a:srgbClr val="7FB2F5"/>
                </a:solidFill>
                <a:latin typeface="Calibri"/>
              </a:rPr>
              <a:t>▸  SAP connectivity</a:t>
            </a:r>
            <a:r>
              <a:rPr sz="1350">
                <a:solidFill>
                  <a:srgbClr val="E8ECF3"/>
                </a:solidFill>
                <a:latin typeface="Calibri"/>
              </a:rPr>
              <a:t>  BTP Destination service; Connectivity + Cloud Connector proxy for on-premise systems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350" b="1">
                <a:solidFill>
                  <a:srgbClr val="7FB2F5"/>
                </a:solidFill>
                <a:latin typeface="Calibri"/>
              </a:rPr>
              <a:t>▸  Config</a:t>
            </a:r>
            <a:r>
              <a:rPr sz="1350">
                <a:solidFill>
                  <a:srgbClr val="E8ECF3"/>
                </a:solidFill>
                <a:latin typeface="Calibri"/>
              </a:rPr>
              <a:t>  pydantic-settings, .env-backed (S4_BASE_URL, AI_CORE_ENABLED, APP_PUBLIC_URL, etc.)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350" b="1">
                <a:solidFill>
                  <a:srgbClr val="7FB2F5"/>
                </a:solidFill>
                <a:latin typeface="Calibri"/>
              </a:rPr>
              <a:t>▸  Reports</a:t>
            </a:r>
            <a:r>
              <a:rPr sz="1350">
                <a:solidFill>
                  <a:srgbClr val="E8ECF3"/>
                </a:solidFill>
                <a:latin typeface="Calibri"/>
              </a:rPr>
              <a:t>  In-memory render, short-lived token storage, served via GET /reports/download/{token}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7A93"/>
                </a:solidFill>
                <a:latin typeface="Calibri"/>
              </a:rPr>
              <a:t>Smart Material AI  •  Jabil Suzhou GP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A93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320040" cy="54864"/>
          </a:xfrm>
          <a:prstGeom prst="rect">
            <a:avLst/>
          </a:prstGeom>
          <a:solidFill>
            <a:srgbClr val="2E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2120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B2F5"/>
                </a:solidFill>
                <a:latin typeface="Calibri"/>
              </a:rPr>
              <a:t>CURRENT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Where Things Stand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394960" cy="2286000"/>
          </a:xfrm>
          <a:prstGeom prst="roundRect">
            <a:avLst>
              <a:gd name="adj" fmla="val 6000"/>
            </a:avLst>
          </a:prstGeom>
          <a:solidFill>
            <a:srgbClr val="1E2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5394960" cy="64008"/>
          </a:xfrm>
          <a:prstGeom prst="rect">
            <a:avLst/>
          </a:prstGeom>
          <a:solidFill>
            <a:srgbClr val="21B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1B38A"/>
                </a:solidFill>
                <a:latin typeface="Calibri"/>
              </a:rPr>
              <a:t>Verified &amp; Working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43200"/>
            <a:ext cx="47548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>
                <a:solidFill>
                  <a:srgbClr val="E8ECF3"/>
                </a:solidFill>
                <a:latin typeface="Calibri"/>
              </a:rPr>
              <a:t>▸  All 4 agents live, each with its own AgentCard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>
                <a:solidFill>
                  <a:srgbClr val="E8ECF3"/>
                </a:solidFill>
                <a:latin typeface="Calibri"/>
              </a:rPr>
              <a:t>▸  Dual input path (structured + free text) on every agent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>
                <a:solidFill>
                  <a:srgbClr val="E8ECF3"/>
                </a:solidFill>
                <a:latin typeface="Calibri"/>
              </a:rPr>
              <a:t>▸  4 business rules verified against real sample_data/ exports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011680"/>
            <a:ext cx="5394960" cy="2286000"/>
          </a:xfrm>
          <a:prstGeom prst="roundRect">
            <a:avLst>
              <a:gd name="adj" fmla="val 6000"/>
            </a:avLst>
          </a:prstGeom>
          <a:solidFill>
            <a:srgbClr val="1E2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2011680"/>
            <a:ext cx="5394960" cy="64008"/>
          </a:xfrm>
          <a:prstGeom prst="rect">
            <a:avLst/>
          </a:prstGeom>
          <a:solidFill>
            <a:srgbClr val="E0A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2402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0A42E"/>
                </a:solidFill>
                <a:latin typeface="Calibri"/>
              </a:rPr>
              <a:t>Not Yet Implemented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743200"/>
            <a:ext cx="47548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>
                <a:solidFill>
                  <a:srgbClr val="E8ECF3"/>
                </a:solidFill>
                <a:latin typeface="Calibri"/>
              </a:rPr>
              <a:t>▸  "Buck material" exclusion — no confirmed rule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>
                <a:solidFill>
                  <a:srgbClr val="E8ECF3"/>
                </a:solidFill>
                <a:latin typeface="Calibri"/>
              </a:rPr>
              <a:t>▸  "-S" suffix material handling — no confirmed rule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>
                <a:solidFill>
                  <a:srgbClr val="E8ECF3"/>
                </a:solidFill>
                <a:latin typeface="Calibri"/>
              </a:rPr>
              <a:t>▸  (Per the Functional Spec's open questions)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572000"/>
            <a:ext cx="11018520" cy="1554480"/>
          </a:xfrm>
          <a:prstGeom prst="roundRect">
            <a:avLst>
              <a:gd name="adj" fmla="val 8000"/>
            </a:avLst>
          </a:prstGeom>
          <a:solidFill>
            <a:srgbClr val="142740"/>
          </a:solidFill>
          <a:ln w="12700">
            <a:solidFill>
              <a:srgbClr val="2E6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80060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7FB2F5"/>
                </a:solidFill>
                <a:latin typeface="Calibri"/>
              </a:rPr>
              <a:t>Extensibility note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193792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B8C4D6"/>
                </a:solidFill>
                <a:latin typeface="Calibri"/>
              </a:rPr>
              <a:t>If live S/4 data ever needs to back the same 4 business rules instead of Excel, that becomes a new s4_adapter.py sitting behind the same core_capabilities call — not a rewrite of the rules themselves.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7A93"/>
                </a:solidFill>
                <a:latin typeface="Calibri"/>
              </a:rPr>
              <a:t>Smart Material AI  •  Jabil Suzhou GP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A93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